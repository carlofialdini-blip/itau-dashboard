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57" r:id="rId7"/>
    <p:sldId id="264" r:id="rId8"/>
    <p:sldId id="258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571"/>
  </p:normalViewPr>
  <p:slideViewPr>
    <p:cSldViewPr snapToGrid="0">
      <p:cViewPr varScale="1">
        <p:scale>
          <a:sx n="110" d="100"/>
          <a:sy n="11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9FEFF-9BD2-0976-209F-DA6F4EBBA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2715C-2268-6B36-5B00-AFECC1B03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22433-CF3B-6730-76AF-85CB6566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F14F8-51CA-D14E-BFF0-9D80C0E3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5F936-D091-AFAD-0B09-3ADCBF15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08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CF80-9600-B7D0-C9CC-9F376831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1109-4EE8-F401-CBC5-6650211CB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3BF90-0260-4D5E-CB2A-809505EE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2F5CC-CA7A-DC19-34BC-415DE85D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EC71-BEE3-1D6B-0F43-BEA8A681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4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9B9C-2FB2-7F49-65F1-56E577C63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F9AC-DCBA-396F-4D62-A164671AA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3B06-46D9-7D42-ADDB-5E64D2E4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556F2-1E9B-5B87-F703-E1CF2511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CF3F-9C3C-159F-B818-830966EE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5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F24F-91EE-FEDE-2AB3-075463ED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7D1E6-E448-7F4B-4E07-F562FCC45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40B5B-08B5-999B-8A42-CE197735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05FB2-67B8-93FD-6167-42B05376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84B08-531A-5B3A-3261-A760982E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83C61-DC7B-1E18-2F15-E401908A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0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E488-C841-98A0-88AC-E7C328D71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595D7-FC4C-9C0F-DB21-72E7D36BB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19261-7F9E-472C-29D3-6B137D5A6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76BC8-FDBE-29B7-5531-65AD7498D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B91E5-AB00-C50D-67E2-4D7114992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09C84-157A-E14B-1783-415C4E93A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E7634-B03B-67BE-1224-8A35225C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D3B7B-B123-D02B-9A79-BE2CB35CC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9DFD-BCF5-B13F-3A4E-95BE6CC7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317FA-E758-434D-A3EC-7C238CE2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D42A0-296E-1EA9-D664-A66CC6D1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0FFB5-93CC-365A-0B7C-0F45BDE2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3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D2672-3C4F-16FE-C32A-09D88B67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DFF6E-8A7E-7B0D-02EE-5ABA3F55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9C609-435C-131B-C30F-00AECAA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0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3B39-22CB-400D-10FD-A0DF2407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4C3E-1EDA-24CB-D3D7-42F689D76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7361C-6241-7687-E3CC-FA278FBE1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6F782-B5F0-AA37-338F-00A57BA9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0CB35-009B-1468-B694-C9143EFB3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134CC-85E3-1A2C-C456-B49B8975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65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9DC3-5D39-CBFB-925F-37ECE2899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ECB71-0AD3-4524-A9B0-86D1EBC45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DD46-8BD8-A97D-F26A-36ED1E6F3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FE173-1FEB-D296-BA40-640B3F86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B69BB-C918-4232-862C-41CD87E8E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7812E-6949-EA5E-4E63-B425D8BE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2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9E37-D754-2005-0508-F6CE7005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DFD29-B7E6-7665-D39E-17209DE07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E07D7-3E57-9FF6-F101-12EDD7E2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709B6-734B-2332-3188-4ADEE8E6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77A83-7FB6-A6B4-6356-ED580E72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9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618C3-A5AC-CE45-F951-E3597B812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C6AD-66E6-15F9-DBF0-87C1A0568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947C8-D216-E1EC-2427-C948D647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A9EE-2269-F505-292D-9728D194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D9A8-4261-943C-1A0D-16B5336E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7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8F06D-BFEE-8A9B-BD24-76E73BFB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5AA91-D301-AFBB-3288-43B304C94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949EB-54FA-393A-D0B2-DEBCE770D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AB7F3-4057-0D47-A476-B9E81BC914D8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C4532-7D33-7832-BE93-BD771B143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011DF-D9C7-E59A-5663-3F03EA229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A7CF8-50C7-3E45-855E-67BA4B0EE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9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9CDE-B593-9E8C-EE61-C71DF7460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866A1-ED33-A25D-E44A-37CB5C21D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66467-BCE7-B0DB-9B61-48D02BE8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82BF05-832B-EE54-1E67-FFF2AD0EF574}"/>
              </a:ext>
            </a:extLst>
          </p:cNvPr>
          <p:cNvSpPr txBox="1"/>
          <p:nvPr/>
        </p:nvSpPr>
        <p:spPr>
          <a:xfrm>
            <a:off x="509286" y="347241"/>
            <a:ext cx="1129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Projeto</a:t>
            </a:r>
            <a:r>
              <a:rPr lang="en-US" dirty="0"/>
              <a:t> – </a:t>
            </a:r>
            <a:r>
              <a:rPr lang="en-US" dirty="0" err="1"/>
              <a:t>Necesidades</a:t>
            </a:r>
            <a:r>
              <a:rPr lang="en-US" dirty="0"/>
              <a:t> e </a:t>
            </a:r>
            <a:r>
              <a:rPr lang="en-US" dirty="0" err="1"/>
              <a:t>desafios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59F2F-9A2D-08BC-689A-82D190F48A26}"/>
              </a:ext>
            </a:extLst>
          </p:cNvPr>
          <p:cNvSpPr txBox="1"/>
          <p:nvPr/>
        </p:nvSpPr>
        <p:spPr>
          <a:xfrm>
            <a:off x="1388962" y="1632031"/>
            <a:ext cx="5567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informacoes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companhias</a:t>
            </a:r>
            <a:r>
              <a:rPr lang="en-US" dirty="0"/>
              <a:t> da </a:t>
            </a:r>
            <a:r>
              <a:rPr lang="en-US" dirty="0" err="1"/>
              <a:t>carteira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Acopanhar</a:t>
            </a:r>
            <a:r>
              <a:rPr lang="en-US" dirty="0"/>
              <a:t> </a:t>
            </a:r>
            <a:r>
              <a:rPr lang="en-US" dirty="0" err="1"/>
              <a:t>eventos</a:t>
            </a:r>
            <a:r>
              <a:rPr lang="en-US" dirty="0"/>
              <a:t> </a:t>
            </a:r>
            <a:r>
              <a:rPr lang="en-US" dirty="0" err="1"/>
              <a:t>relacionados</a:t>
            </a:r>
            <a:r>
              <a:rPr lang="en-US" dirty="0"/>
              <a:t> a </a:t>
            </a:r>
            <a:r>
              <a:rPr lang="en-US" dirty="0" err="1"/>
              <a:t>compnhia</a:t>
            </a:r>
            <a:r>
              <a:rPr lang="en-US" dirty="0"/>
              <a:t>, dados e mercado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Buscar</a:t>
            </a:r>
            <a:r>
              <a:rPr lang="en-US" dirty="0"/>
              <a:t> dados </a:t>
            </a:r>
            <a:r>
              <a:rPr lang="en-US" dirty="0" err="1"/>
              <a:t>relacionados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setores</a:t>
            </a:r>
            <a:r>
              <a:rPr lang="en-US" dirty="0"/>
              <a:t> de interesse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15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2E9AA-CF10-9A7E-B20F-2E8D6619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BE9EE1-3B41-2663-556D-68003F08EB4B}"/>
              </a:ext>
            </a:extLst>
          </p:cNvPr>
          <p:cNvSpPr txBox="1"/>
          <p:nvPr/>
        </p:nvSpPr>
        <p:spPr>
          <a:xfrm>
            <a:off x="509286" y="347241"/>
            <a:ext cx="1129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Projeto</a:t>
            </a:r>
            <a:r>
              <a:rPr lang="en-US" dirty="0"/>
              <a:t> – </a:t>
            </a:r>
            <a:r>
              <a:rPr lang="en-US" dirty="0" err="1"/>
              <a:t>Ideia</a:t>
            </a:r>
            <a:r>
              <a:rPr lang="en-US" dirty="0"/>
              <a:t> </a:t>
            </a:r>
            <a:r>
              <a:rPr lang="en-US" dirty="0" err="1"/>
              <a:t>inicial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C91919-DD4D-315B-20F1-F81EFBB51BBB}"/>
              </a:ext>
            </a:extLst>
          </p:cNvPr>
          <p:cNvSpPr txBox="1"/>
          <p:nvPr/>
        </p:nvSpPr>
        <p:spPr>
          <a:xfrm>
            <a:off x="1388963" y="1632031"/>
            <a:ext cx="4074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Ideia</a:t>
            </a:r>
            <a:r>
              <a:rPr lang="en-US" dirty="0"/>
              <a:t> </a:t>
            </a:r>
            <a:r>
              <a:rPr lang="en-US" dirty="0" err="1"/>
              <a:t>inicial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om dados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companhias</a:t>
            </a:r>
            <a:r>
              <a:rPr lang="en-US" dirty="0"/>
              <a:t> da </a:t>
            </a:r>
            <a:r>
              <a:rPr lang="en-US" dirty="0" err="1"/>
              <a:t>carteira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Itens</a:t>
            </a:r>
            <a:r>
              <a:rPr lang="en-US" dirty="0"/>
              <a:t> </a:t>
            </a:r>
            <a:r>
              <a:rPr lang="en-US" dirty="0" err="1"/>
              <a:t>relacionados</a:t>
            </a:r>
            <a:r>
              <a:rPr lang="en-US" dirty="0"/>
              <a:t> a mercado 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Proposta </a:t>
            </a:r>
            <a:r>
              <a:rPr lang="en-US" dirty="0" err="1"/>
              <a:t>vaga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o </a:t>
            </a:r>
            <a:r>
              <a:rPr lang="en-US" dirty="0" err="1"/>
              <a:t>projeto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A3523-ADF3-83D6-8744-9D82404DE21C}"/>
              </a:ext>
            </a:extLst>
          </p:cNvPr>
          <p:cNvSpPr txBox="1"/>
          <p:nvPr/>
        </p:nvSpPr>
        <p:spPr>
          <a:xfrm>
            <a:off x="7108786" y="1400537"/>
            <a:ext cx="40742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 que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feito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Tracker de </a:t>
            </a:r>
            <a:r>
              <a:rPr lang="en-US" dirty="0" err="1"/>
              <a:t>noticias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de dados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setores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de dados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economia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Acompanhamento</a:t>
            </a:r>
            <a:r>
              <a:rPr lang="en-US" dirty="0"/>
              <a:t> de </a:t>
            </a:r>
            <a:r>
              <a:rPr lang="en-US" dirty="0" err="1"/>
              <a:t>calendarios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Acompanhamento</a:t>
            </a:r>
            <a:r>
              <a:rPr lang="en-US" dirty="0"/>
              <a:t> de </a:t>
            </a:r>
            <a:r>
              <a:rPr lang="en-US" dirty="0" err="1"/>
              <a:t>noticias</a:t>
            </a:r>
            <a:r>
              <a:rPr lang="en-US" dirty="0"/>
              <a:t>, </a:t>
            </a:r>
            <a:r>
              <a:rPr lang="en-US" dirty="0" err="1"/>
              <a:t>eventos</a:t>
            </a:r>
            <a:r>
              <a:rPr lang="en-US" dirty="0"/>
              <a:t>, e dados </a:t>
            </a:r>
            <a:r>
              <a:rPr lang="en-US" dirty="0" err="1"/>
              <a:t>chineses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Facilitador</a:t>
            </a:r>
            <a:r>
              <a:rPr lang="en-US" dirty="0"/>
              <a:t> de clipping para </a:t>
            </a:r>
            <a:r>
              <a:rPr lang="en-US" dirty="0" err="1"/>
              <a:t>estagiarios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export, PPT graph and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BD95D-347F-FC78-73D3-AC987AD556CF}"/>
              </a:ext>
            </a:extLst>
          </p:cNvPr>
          <p:cNvSpPr txBox="1"/>
          <p:nvPr/>
        </p:nvSpPr>
        <p:spPr>
          <a:xfrm>
            <a:off x="2610091" y="5223822"/>
            <a:ext cx="7095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Proximos</a:t>
            </a:r>
            <a:r>
              <a:rPr lang="en-US" dirty="0"/>
              <a:t> </a:t>
            </a:r>
            <a:r>
              <a:rPr lang="en-US" dirty="0" err="1"/>
              <a:t>passos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complete com clipping – </a:t>
            </a:r>
            <a:r>
              <a:rPr lang="en-US" dirty="0" err="1"/>
              <a:t>Hardcomm</a:t>
            </a:r>
            <a:r>
              <a:rPr lang="en-US" dirty="0"/>
              <a:t> O&amp;G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Refinining</a:t>
            </a:r>
            <a:r>
              <a:rPr lang="en-US" dirty="0"/>
              <a:t> de base de dados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Integracoes</a:t>
            </a:r>
            <a:r>
              <a:rPr lang="en-US" dirty="0"/>
              <a:t> com APIS </a:t>
            </a:r>
            <a:r>
              <a:rPr lang="en-US" dirty="0" err="1"/>
              <a:t>Adicionais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Integracao</a:t>
            </a:r>
            <a:r>
              <a:rPr lang="en-US" dirty="0"/>
              <a:t> com PODICRE (</a:t>
            </a:r>
            <a:r>
              <a:rPr lang="en-US" dirty="0" err="1"/>
              <a:t>manter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automatic)</a:t>
            </a:r>
          </a:p>
        </p:txBody>
      </p:sp>
    </p:spTree>
    <p:extLst>
      <p:ext uri="{BB962C8B-B14F-4D97-AF65-F5344CB8AC3E}">
        <p14:creationId xmlns:p14="http://schemas.microsoft.com/office/powerpoint/2010/main" val="83179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22BDC-D7A3-0530-3BBD-BAE2C9F4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D4EDB9-27D8-6ECE-BA0A-836AFB0B031A}"/>
              </a:ext>
            </a:extLst>
          </p:cNvPr>
          <p:cNvSpPr txBox="1"/>
          <p:nvPr/>
        </p:nvSpPr>
        <p:spPr>
          <a:xfrm>
            <a:off x="509286" y="347241"/>
            <a:ext cx="1129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Projeto</a:t>
            </a:r>
            <a:r>
              <a:rPr lang="en-US" dirty="0"/>
              <a:t> – </a:t>
            </a:r>
            <a:r>
              <a:rPr lang="en-US" dirty="0" err="1"/>
              <a:t>desenvolvimento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41C736-E2F8-89E4-7E93-BA20FE6FD9A3}"/>
              </a:ext>
            </a:extLst>
          </p:cNvPr>
          <p:cNvSpPr txBox="1"/>
          <p:nvPr/>
        </p:nvSpPr>
        <p:spPr>
          <a:xfrm>
            <a:off x="1053298" y="1226917"/>
            <a:ext cx="40742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Desenvolviento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Projeto</a:t>
            </a:r>
            <a:r>
              <a:rPr lang="en-US" dirty="0"/>
              <a:t> </a:t>
            </a:r>
            <a:r>
              <a:rPr lang="en-US" dirty="0" err="1"/>
              <a:t>competamente</a:t>
            </a:r>
            <a:r>
              <a:rPr lang="en-US" dirty="0"/>
              <a:t> </a:t>
            </a:r>
            <a:r>
              <a:rPr lang="en-US" dirty="0" err="1"/>
              <a:t>desenvolvido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Utilizacao</a:t>
            </a:r>
            <a:r>
              <a:rPr lang="en-US" dirty="0"/>
              <a:t> de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construção</a:t>
            </a:r>
            <a:r>
              <a:rPr lang="en-US" dirty="0"/>
              <a:t> do </a:t>
            </a:r>
            <a:r>
              <a:rPr lang="en-US" dirty="0" err="1"/>
              <a:t>projeto</a:t>
            </a:r>
            <a:r>
              <a:rPr lang="en-US" dirty="0"/>
              <a:t> mas </a:t>
            </a:r>
            <a:r>
              <a:rPr lang="en-US" dirty="0" err="1"/>
              <a:t>nao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</a:t>
            </a:r>
            <a:r>
              <a:rPr lang="en-US" dirty="0" err="1"/>
              <a:t>projeto</a:t>
            </a:r>
            <a:r>
              <a:rPr lang="en-US" dirty="0"/>
              <a:t> (</a:t>
            </a:r>
            <a:r>
              <a:rPr lang="en-US" dirty="0" err="1"/>
              <a:t>integracao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facil</a:t>
            </a:r>
            <a:r>
              <a:rPr lang="en-US" dirty="0"/>
              <a:t> e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utilizacao</a:t>
            </a:r>
            <a:r>
              <a:rPr lang="en-US" dirty="0"/>
              <a:t> de tokens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Arquivo</a:t>
            </a:r>
            <a:r>
              <a:rPr lang="en-US" dirty="0"/>
              <a:t> de HTML – </a:t>
            </a:r>
            <a:r>
              <a:rPr lang="en-US" dirty="0" err="1"/>
              <a:t>sharepoint</a:t>
            </a:r>
            <a:r>
              <a:rPr lang="en-US" dirty="0"/>
              <a:t> – </a:t>
            </a:r>
            <a:r>
              <a:rPr lang="en-US" dirty="0" err="1"/>
              <a:t>facil</a:t>
            </a:r>
            <a:r>
              <a:rPr lang="en-US" dirty="0"/>
              <a:t> </a:t>
            </a:r>
            <a:r>
              <a:rPr lang="en-US" dirty="0" err="1"/>
              <a:t>acesso</a:t>
            </a:r>
            <a:r>
              <a:rPr lang="en-US" dirty="0"/>
              <a:t> para </a:t>
            </a:r>
            <a:r>
              <a:rPr lang="en-US" dirty="0" err="1"/>
              <a:t>todos</a:t>
            </a:r>
            <a:r>
              <a:rPr lang="en-US" dirty="0"/>
              <a:t>, </a:t>
            </a:r>
            <a:r>
              <a:rPr lang="en-US" dirty="0" err="1"/>
              <a:t>facil</a:t>
            </a:r>
            <a:r>
              <a:rPr lang="en-US" dirty="0"/>
              <a:t> de </a:t>
            </a:r>
            <a:r>
              <a:rPr lang="en-US" dirty="0" err="1"/>
              <a:t>rodar</a:t>
            </a:r>
            <a:r>
              <a:rPr lang="en-US" dirty="0"/>
              <a:t> o </a:t>
            </a:r>
            <a:r>
              <a:rPr lang="en-US" dirty="0" err="1"/>
              <a:t>applicativo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acessar</a:t>
            </a:r>
            <a:r>
              <a:rPr lang="en-US" dirty="0"/>
              <a:t> HTML final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Ferramentas </a:t>
            </a:r>
            <a:r>
              <a:rPr lang="en-US" dirty="0" err="1"/>
              <a:t>utilizadas</a:t>
            </a:r>
            <a:r>
              <a:rPr lang="en-US" dirty="0"/>
              <a:t> </a:t>
            </a:r>
            <a:r>
              <a:rPr lang="en-US" dirty="0" err="1"/>
              <a:t>complacentes</a:t>
            </a:r>
            <a:r>
              <a:rPr lang="en-US" dirty="0"/>
              <a:t> com as </a:t>
            </a:r>
            <a:r>
              <a:rPr lang="en-US" dirty="0" err="1"/>
              <a:t>restricoes</a:t>
            </a:r>
            <a:r>
              <a:rPr lang="en-US" dirty="0"/>
              <a:t> do banco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de dados e </a:t>
            </a:r>
            <a:r>
              <a:rPr lang="en-US" dirty="0" err="1"/>
              <a:t>atualizacao</a:t>
            </a:r>
            <a:r>
              <a:rPr lang="en-US" dirty="0"/>
              <a:t>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77846-E3E1-A539-91BB-35E94BB0B66B}"/>
              </a:ext>
            </a:extLst>
          </p:cNvPr>
          <p:cNvSpPr txBox="1"/>
          <p:nvPr/>
        </p:nvSpPr>
        <p:spPr>
          <a:xfrm>
            <a:off x="6692098" y="1226917"/>
            <a:ext cx="40742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Desenvolviento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Projeto</a:t>
            </a:r>
            <a:r>
              <a:rPr lang="en-US" dirty="0"/>
              <a:t> </a:t>
            </a:r>
            <a:r>
              <a:rPr lang="en-US" dirty="0" err="1"/>
              <a:t>feito</a:t>
            </a:r>
            <a:r>
              <a:rPr lang="en-US" dirty="0"/>
              <a:t> for a do banco – </a:t>
            </a:r>
            <a:r>
              <a:rPr lang="en-US" dirty="0" err="1"/>
              <a:t>acesso</a:t>
            </a:r>
            <a:r>
              <a:rPr lang="en-US" dirty="0"/>
              <a:t> a ferramentas para </a:t>
            </a:r>
            <a:r>
              <a:rPr lang="en-US" dirty="0" err="1"/>
              <a:t>construcao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facil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Facil maintainability – </a:t>
            </a:r>
            <a:r>
              <a:rPr lang="en-US" dirty="0" err="1"/>
              <a:t>princilapmente</a:t>
            </a:r>
            <a:r>
              <a:rPr lang="en-US" dirty="0"/>
              <a:t> com o copilot no VS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de dados e </a:t>
            </a:r>
            <a:r>
              <a:rPr lang="en-US" dirty="0" err="1"/>
              <a:t>atualizacoao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nuvem</a:t>
            </a:r>
            <a:r>
              <a:rPr lang="en-US" dirty="0"/>
              <a:t> – </a:t>
            </a:r>
            <a:r>
              <a:rPr lang="en-US" dirty="0" err="1"/>
              <a:t>projeto</a:t>
            </a:r>
            <a:r>
              <a:rPr lang="en-US" dirty="0"/>
              <a:t> se </a:t>
            </a:r>
            <a:r>
              <a:rPr lang="en-US" dirty="0" err="1"/>
              <a:t>tornaria</a:t>
            </a:r>
            <a:r>
              <a:rPr lang="en-US" dirty="0"/>
              <a:t> “live”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30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EE5C-64E7-5E1F-A71F-93A22984D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98DDBF-B690-57FF-6AD3-51876C2EF334}"/>
              </a:ext>
            </a:extLst>
          </p:cNvPr>
          <p:cNvSpPr txBox="1"/>
          <p:nvPr/>
        </p:nvSpPr>
        <p:spPr>
          <a:xfrm>
            <a:off x="509286" y="347241"/>
            <a:ext cx="1129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Projeto</a:t>
            </a:r>
            <a:r>
              <a:rPr lang="en-US" dirty="0"/>
              <a:t> – </a:t>
            </a:r>
            <a:r>
              <a:rPr lang="en-US" dirty="0" err="1"/>
              <a:t>Produto</a:t>
            </a:r>
            <a:r>
              <a:rPr lang="en-US" dirty="0"/>
              <a:t> final + video do </a:t>
            </a:r>
            <a:r>
              <a:rPr lang="en-US" dirty="0" err="1"/>
              <a:t>produto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313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6BC7FA-7EE7-03DF-34B7-4CA9E7A7B50D}"/>
              </a:ext>
            </a:extLst>
          </p:cNvPr>
          <p:cNvSpPr txBox="1"/>
          <p:nvPr/>
        </p:nvSpPr>
        <p:spPr>
          <a:xfrm>
            <a:off x="509286" y="347241"/>
            <a:ext cx="1129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Casos</a:t>
            </a:r>
          </a:p>
        </p:txBody>
      </p:sp>
      <p:pic>
        <p:nvPicPr>
          <p:cNvPr id="5" name="Picture 2" descr="Cimento Nacional (@usecimentonacional) • Facebook">
            <a:extLst>
              <a:ext uri="{FF2B5EF4-FFF2-40B4-BE49-F238E27FC236}">
                <a16:creationId xmlns:a16="http://schemas.microsoft.com/office/drawing/2014/main" id="{9B3A98D2-6680-48BE-7774-1C0C7E80C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105" y="2330452"/>
            <a:ext cx="2992779" cy="299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imbro Trading">
            <a:extLst>
              <a:ext uri="{FF2B5EF4-FFF2-40B4-BE49-F238E27FC236}">
                <a16:creationId xmlns:a16="http://schemas.microsoft.com/office/drawing/2014/main" id="{3B6532B3-85B5-D352-6EF6-7BE1FF4E2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326" y="4611357"/>
            <a:ext cx="3541016" cy="88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Vagas de Emprego na Mineracao Serras Do Oeste Eireli">
            <a:extLst>
              <a:ext uri="{FF2B5EF4-FFF2-40B4-BE49-F238E27FC236}">
                <a16:creationId xmlns:a16="http://schemas.microsoft.com/office/drawing/2014/main" id="{BE774D11-3864-5048-8434-98281FCA1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44" y="1956384"/>
            <a:ext cx="3892699" cy="104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CD34BE1B-0904-05E5-8A6F-A02F00D17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212" y="4205509"/>
            <a:ext cx="1716681" cy="171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Grupo Ferronorte | Teresina PI">
            <a:extLst>
              <a:ext uri="{FF2B5EF4-FFF2-40B4-BE49-F238E27FC236}">
                <a16:creationId xmlns:a16="http://schemas.microsoft.com/office/drawing/2014/main" id="{DA06392C-B9BB-142E-4A5D-2C46435D0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748" y="1268855"/>
            <a:ext cx="2160145" cy="216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órum Expectativas 2027">
            <a:extLst>
              <a:ext uri="{FF2B5EF4-FFF2-40B4-BE49-F238E27FC236}">
                <a16:creationId xmlns:a16="http://schemas.microsoft.com/office/drawing/2014/main" id="{E411DE06-E4FD-475B-73C2-CDE919C51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537" y="2904301"/>
            <a:ext cx="4182319" cy="123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443D8F-90D7-FB53-F90A-D6DF6FF49EE5}"/>
              </a:ext>
            </a:extLst>
          </p:cNvPr>
          <p:cNvSpPr txBox="1"/>
          <p:nvPr/>
        </p:nvSpPr>
        <p:spPr>
          <a:xfrm>
            <a:off x="1053298" y="1226917"/>
            <a:ext cx="407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CASOS COMPLETOD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B0C4D-8F51-0DA1-E07A-26028C318CBE}"/>
              </a:ext>
            </a:extLst>
          </p:cNvPr>
          <p:cNvSpPr txBox="1"/>
          <p:nvPr/>
        </p:nvSpPr>
        <p:spPr>
          <a:xfrm>
            <a:off x="7548625" y="1268855"/>
            <a:ext cx="407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Cacos</a:t>
            </a:r>
            <a:r>
              <a:rPr lang="en-US" dirty="0"/>
              <a:t> </a:t>
            </a:r>
            <a:r>
              <a:rPr lang="en-US" dirty="0" err="1"/>
              <a:t>parciais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12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2513-7BEC-7470-E396-1499688F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2528D-B19C-47B1-3725-F7DED37FD038}"/>
              </a:ext>
            </a:extLst>
          </p:cNvPr>
          <p:cNvSpPr txBox="1"/>
          <p:nvPr/>
        </p:nvSpPr>
        <p:spPr>
          <a:xfrm>
            <a:off x="509286" y="347241"/>
            <a:ext cx="1129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Comites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36AF615-5D7D-31B1-22B6-ECE656C18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673" y="1214291"/>
            <a:ext cx="2865119" cy="96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F762249-8AED-27B4-3711-81ED67B95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084" y="3423892"/>
            <a:ext cx="1494131" cy="58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0C88140-9F4A-B312-BB1F-3FD6AC27C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710" y="4072991"/>
            <a:ext cx="2530407" cy="17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URA33 Hoje">
            <a:extLst>
              <a:ext uri="{FF2B5EF4-FFF2-40B4-BE49-F238E27FC236}">
                <a16:creationId xmlns:a16="http://schemas.microsoft.com/office/drawing/2014/main" id="{41D2BF87-B167-90A8-7D86-1CB488654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65" y="4173245"/>
            <a:ext cx="2241505" cy="1378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io'25">
            <a:extLst>
              <a:ext uri="{FF2B5EF4-FFF2-40B4-BE49-F238E27FC236}">
                <a16:creationId xmlns:a16="http://schemas.microsoft.com/office/drawing/2014/main" id="{EAF747BC-8937-71E6-0329-0EBFA62C0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449" y="2375412"/>
            <a:ext cx="3345083" cy="5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Trabalhe Conosco: Acelen Renováveis">
            <a:extLst>
              <a:ext uri="{FF2B5EF4-FFF2-40B4-BE49-F238E27FC236}">
                <a16:creationId xmlns:a16="http://schemas.microsoft.com/office/drawing/2014/main" id="{5BEF1BA4-908F-57C3-E7B8-9786FCA64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785" y="3878107"/>
            <a:ext cx="2688073" cy="179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nvictus Offshore">
            <a:extLst>
              <a:ext uri="{FF2B5EF4-FFF2-40B4-BE49-F238E27FC236}">
                <a16:creationId xmlns:a16="http://schemas.microsoft.com/office/drawing/2014/main" id="{A5297E40-B1D9-598B-1558-AE693A05C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629" y="1890931"/>
            <a:ext cx="2863488" cy="123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Instituto Orizon Social | Home">
            <a:extLst>
              <a:ext uri="{FF2B5EF4-FFF2-40B4-BE49-F238E27FC236}">
                <a16:creationId xmlns:a16="http://schemas.microsoft.com/office/drawing/2014/main" id="{F3EC2422-71D6-B2C5-47CD-FC655F37C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232" y="2735250"/>
            <a:ext cx="3344145" cy="137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Marcas Biolab - Biolab &amp; Co">
            <a:extLst>
              <a:ext uri="{FF2B5EF4-FFF2-40B4-BE49-F238E27FC236}">
                <a16:creationId xmlns:a16="http://schemas.microsoft.com/office/drawing/2014/main" id="{289B7F41-9B81-8B28-7B63-15312B3A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014" y="3102917"/>
            <a:ext cx="1807429" cy="78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2026-encontro-inicio - Lubes em Foco">
            <a:extLst>
              <a:ext uri="{FF2B5EF4-FFF2-40B4-BE49-F238E27FC236}">
                <a16:creationId xmlns:a16="http://schemas.microsoft.com/office/drawing/2014/main" id="{638793E0-0D27-B44F-1B1E-6BA48986A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89" y="2870432"/>
            <a:ext cx="2463700" cy="154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ROMI S.A.">
            <a:extLst>
              <a:ext uri="{FF2B5EF4-FFF2-40B4-BE49-F238E27FC236}">
                <a16:creationId xmlns:a16="http://schemas.microsoft.com/office/drawing/2014/main" id="{F2988592-E89B-CA15-B0F5-65240AA9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542" y="5326477"/>
            <a:ext cx="2167382" cy="70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Skala | Beleza na Web">
            <a:extLst>
              <a:ext uri="{FF2B5EF4-FFF2-40B4-BE49-F238E27FC236}">
                <a16:creationId xmlns:a16="http://schemas.microsoft.com/office/drawing/2014/main" id="{FB5BE417-0A37-3DAE-8D50-D4FC3A70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21" y="716573"/>
            <a:ext cx="3348489" cy="177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Solví-logo | Engº Vagner Landi - Blog Urban Policy and Quality of Life">
            <a:extLst>
              <a:ext uri="{FF2B5EF4-FFF2-40B4-BE49-F238E27FC236}">
                <a16:creationId xmlns:a16="http://schemas.microsoft.com/office/drawing/2014/main" id="{19DE281B-64F5-2DDD-36CB-21CB0738F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37" y="4752120"/>
            <a:ext cx="2128204" cy="108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 descr="Ambev S/a (ABEV3): Cotação, Análise e Indicadores | SenseInvest">
            <a:extLst>
              <a:ext uri="{FF2B5EF4-FFF2-40B4-BE49-F238E27FC236}">
                <a16:creationId xmlns:a16="http://schemas.microsoft.com/office/drawing/2014/main" id="{74C342D3-6B15-5508-E8CC-7B1C03FD2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377" y="1909845"/>
            <a:ext cx="3125165" cy="78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43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FC16-D62A-E1F8-A2E4-038D6988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A493AD-BA5E-3170-9DE9-23E7AA9AA31C}"/>
              </a:ext>
            </a:extLst>
          </p:cNvPr>
          <p:cNvSpPr txBox="1"/>
          <p:nvPr/>
        </p:nvSpPr>
        <p:spPr>
          <a:xfrm>
            <a:off x="509286" y="347241"/>
            <a:ext cx="1129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Aprendizados</a:t>
            </a:r>
            <a:r>
              <a:rPr lang="en-US" dirty="0"/>
              <a:t> dos </a:t>
            </a:r>
            <a:r>
              <a:rPr lang="en-US" dirty="0" err="1"/>
              <a:t>casos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03A31E-12A4-BB6B-8891-521F55106F21}"/>
              </a:ext>
            </a:extLst>
          </p:cNvPr>
          <p:cNvSpPr txBox="1"/>
          <p:nvPr/>
        </p:nvSpPr>
        <p:spPr>
          <a:xfrm>
            <a:off x="1388963" y="1632031"/>
            <a:ext cx="9641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Gestãoo</a:t>
            </a:r>
            <a:r>
              <a:rPr lang="en-US" dirty="0"/>
              <a:t> da </a:t>
            </a:r>
            <a:r>
              <a:rPr lang="en-US" dirty="0" err="1"/>
              <a:t>carteira</a:t>
            </a:r>
            <a:r>
              <a:rPr lang="en-US" dirty="0"/>
              <a:t> </a:t>
            </a:r>
            <a:r>
              <a:rPr lang="en-US" dirty="0" err="1"/>
              <a:t>compra</a:t>
            </a:r>
            <a:r>
              <a:rPr lang="en-US" dirty="0"/>
              <a:t> e </a:t>
            </a:r>
            <a:r>
              <a:rPr lang="en-US" dirty="0" err="1"/>
              <a:t>venda</a:t>
            </a:r>
            <a:r>
              <a:rPr lang="en-US" dirty="0"/>
              <a:t> Ponto de vista equity e Credito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Relacionamento</a:t>
            </a:r>
            <a:r>
              <a:rPr lang="en-US" dirty="0"/>
              <a:t> e cross sell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13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4D1B-F07B-1C0E-20AE-1BE836B14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E8AF17-CB3B-754E-B9F1-4C09F4A31842}"/>
              </a:ext>
            </a:extLst>
          </p:cNvPr>
          <p:cNvSpPr txBox="1"/>
          <p:nvPr/>
        </p:nvSpPr>
        <p:spPr>
          <a:xfrm>
            <a:off x="509286" y="347241"/>
            <a:ext cx="1129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e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summer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15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262</Words>
  <Application>Microsoft Macintosh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Fialdini</dc:creator>
  <cp:lastModifiedBy>Carlo Fialdini</cp:lastModifiedBy>
  <cp:revision>1</cp:revision>
  <dcterms:created xsi:type="dcterms:W3CDTF">2026-07-27T12:19:02Z</dcterms:created>
  <dcterms:modified xsi:type="dcterms:W3CDTF">2026-07-27T21:31:29Z</dcterms:modified>
</cp:coreProperties>
</file>